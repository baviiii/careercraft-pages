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934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3081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5470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6361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8954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829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7990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310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0270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8174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509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8319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787577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5669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03153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15204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0758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6523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39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206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743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Horus Intelligence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91440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F4F8"/>
                </a:solidFill>
              </a:rPr>
              <a:t>Bringing Government Documents to Life with AI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029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Proposal for South Australian Government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5486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D7A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37160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CC"/>
                </a:solidFill>
              </a:rPr>
              <a:t>•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828800" y="1645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Frontline staff spend 5-10 hours per week searching through policy documents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CC"/>
                </a:solidFill>
              </a:rPr>
              <a:t>•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2880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Information is trapped in static PDFs across 50+ departments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CC"/>
                </a:solidFill>
              </a:rPr>
              <a:t>•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828800" y="3108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2026 Regulatory Reform requires automated contradiction detection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7160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CC"/>
                </a:solidFill>
              </a:rPr>
              <a:t>•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8288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No way to discover connections between programs, funding, and outcomes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7160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CC"/>
                </a:solidFill>
              </a:rPr>
              <a:t>•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828800" y="4572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Staff need answers in seconds, not hours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5669280"/>
            <a:ext cx="1060704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1371600" y="59436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Office for AI has $28M available for "freeing up frontline staff"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D7A"/>
                </a:solidFill>
              </a:rPr>
              <a:t>Our Solution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AI that transforms static documents into living intelligence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914400" y="2011680"/>
            <a:ext cx="10607040" cy="7315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1371600" y="210312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Natural Language Search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423160"/>
            <a:ext cx="969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Ask questions in plain English, get answers in seconds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10607040" cy="7315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1371600" y="297180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Automatic Connection Discovery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3291840"/>
            <a:ext cx="969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See how programs, funding, and outcomes relate to each other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3749040"/>
            <a:ext cx="10607040" cy="7315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1371600" y="384048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Contradiction Detection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71600" y="4160520"/>
            <a:ext cx="969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Automatically find conflicting information across all documents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4617720"/>
            <a:ext cx="10607040" cy="7315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1371600" y="470916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Full Audit Trails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71600" y="5029200"/>
            <a:ext cx="969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Every answer includes source citations and confidence scores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14400" y="5486400"/>
            <a:ext cx="10607040" cy="7315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1371600" y="557784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Australian Infrastructure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71600" y="5897880"/>
            <a:ext cx="969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All data stays in Australia, compliant with government requirements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D7A"/>
                </a:solidFill>
              </a:rPr>
              <a:t>How It Works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97280" y="1645920"/>
            <a:ext cx="731520" cy="73152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1097280" y="1828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4D7A"/>
                </a:solidFill>
              </a:rPr>
              <a:t>Upload Documents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PDFs, policies, budgets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11680" y="1920240"/>
            <a:ext cx="731520" cy="365760"/>
          </a:xfrm>
          <a:prstGeom prst="rightArrow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6"/>
          <p:cNvSpPr/>
          <p:nvPr/>
        </p:nvSpPr>
        <p:spPr>
          <a:xfrm>
            <a:off x="3840480" y="1645920"/>
            <a:ext cx="731520" cy="73152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3840480" y="1828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3832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4D7A"/>
                </a:solidFill>
              </a:rPr>
              <a:t>AI Processing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8328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Extract text, tables, charts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920240"/>
            <a:ext cx="731520" cy="365760"/>
          </a:xfrm>
          <a:prstGeom prst="rightArrow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1"/>
          <p:cNvSpPr/>
          <p:nvPr/>
        </p:nvSpPr>
        <p:spPr>
          <a:xfrm>
            <a:off x="6583680" y="1645920"/>
            <a:ext cx="731520" cy="73152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6583680" y="1828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1264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4D7A"/>
                </a:solidFill>
              </a:rPr>
              <a:t>Build Knowledge Graph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2648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Map entities and relationships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98080" y="1920240"/>
            <a:ext cx="731520" cy="365760"/>
          </a:xfrm>
          <a:prstGeom prst="rightArrow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6"/>
          <p:cNvSpPr/>
          <p:nvPr/>
        </p:nvSpPr>
        <p:spPr>
          <a:xfrm>
            <a:off x="9326880" y="1645920"/>
            <a:ext cx="731520" cy="73152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7"/>
          <p:cNvSpPr/>
          <p:nvPr/>
        </p:nvSpPr>
        <p:spPr>
          <a:xfrm>
            <a:off x="9326880" y="1828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8696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4D7A"/>
                </a:solidFill>
              </a:rPr>
              <a:t>Enable Search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86968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Natural language queries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4D7A"/>
                </a:solidFill>
              </a:rPr>
              <a:t>Technology Stack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371600" y="4480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8CC"/>
                </a:solidFill>
              </a:rPr>
              <a:t>•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82880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Azure AI Search for vector and keyword search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71600" y="4937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8CC"/>
                </a:solidFill>
              </a:rPr>
              <a:t>•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828800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GPT-4 Vision for extracting tables and charts from PDFs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71600" y="5394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8CC"/>
                </a:solidFill>
              </a:rPr>
              <a:t>•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82880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Neo4j for knowledge graph and relationship mapping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371600" y="5852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8CC"/>
                </a:solidFill>
              </a:rPr>
              <a:t>•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82880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Agentic AI for multi-step reasoning and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D7A"/>
                </a:solidFill>
              </a:rPr>
              <a:t>Government-Grade Validation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Every answer is validated, cited, and auditable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2011680"/>
            <a:ext cx="2286000" cy="731520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109728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75%+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0" y="2057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4D7A"/>
                </a:solidFill>
              </a:rPr>
              <a:t>Assert as Fact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0" y="2423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High confidence from multiple sources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3200400"/>
            <a:ext cx="2286000" cy="731520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109728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50-75%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65760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4D7A"/>
                </a:solidFill>
              </a:rPr>
              <a:t>Mention as Possible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Medium confidence, partial evidence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4400" y="4389120"/>
            <a:ext cx="2286000" cy="731520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109728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&lt;50%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365760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4D7A"/>
                </a:solidFill>
              </a:rPr>
              <a:t>Flag for Human Review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6576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Low confidence, needs validation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4D7A"/>
                </a:solidFill>
              </a:rPr>
              <a:t>Complete Audit Trail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371600" y="5943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CC"/>
                </a:solidFill>
              </a:rPr>
              <a:t>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828800" y="5943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Source document and page number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716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CC"/>
                </a:solidFill>
              </a:rPr>
              <a:t>•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82880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Confidence score and validation status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71600" y="6583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CC"/>
                </a:solidFill>
              </a:rPr>
              <a:t>•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82880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Timestamp and user tracking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D7A"/>
                </a:solidFill>
              </a:rPr>
              <a:t>Our Story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914400" y="1645920"/>
            <a:ext cx="10607040" cy="45720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731520" y="1554480"/>
            <a:ext cx="274320" cy="27432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13716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CC"/>
                </a:solidFill>
              </a:rPr>
              <a:t>Phase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651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4D7A"/>
                </a:solidFill>
              </a:rPr>
              <a:t>CareerCraft B2C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3017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Built resume builder and ATS analysis tools for job seekers. Gained traction with consumers.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554480"/>
            <a:ext cx="274320" cy="27432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137160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CC"/>
                </a:solidFill>
              </a:rPr>
              <a:t>Phase 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4114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4D7A"/>
                </a:solidFill>
              </a:rPr>
              <a:t>AI Engine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71600" y="4480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Developed the core intelligence platform - document processing, RAG, knowledge graphs.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1554480"/>
            <a:ext cx="274320" cy="27432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1371600" y="5212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CC"/>
                </a:solidFill>
              </a:rPr>
              <a:t>Phase 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5577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4D7A"/>
                </a:solidFill>
              </a:rPr>
              <a:t>B2B &amp; B2G Focus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71600" y="5943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Now taking the engine to government and enterprise. CareerCraft continues for consumers.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D7A"/>
                </a:solidFill>
              </a:rPr>
              <a:t>Why Horus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371600" y="1645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Only solution with automatic contradiction detection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71600" y="20574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Find conflicting policies across departments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Australian data sovereignty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9718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All infrastructure in Sydney and Melbourne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3474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Government-grade validation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38862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Confidence scores and full audit trails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4389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Works with any document type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1600" y="48006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Flexible enough for healthcare, policy, finance, or workforce 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5303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7A"/>
                </a:solidFill>
              </a:rPr>
              <a:t>Ready to deploy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71600" y="57150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Proven technology, pilot-ready infrastructure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D7A"/>
                </a:solidFill>
              </a:rPr>
              <a:t>Australian Compliance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743200" y="1828800"/>
            <a:ext cx="6949440" cy="22860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3200400" y="22860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4D7A"/>
                </a:solidFill>
              </a:rPr>
              <a:t>100% Australian Data Sovereignty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0" y="29260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All data and compute in Australia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4D7A"/>
                </a:solidFill>
              </a:rPr>
              <a:t>Australian Government AI Ethics Principles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71600" y="5120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5120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Transparency: Clear disclosure when AI is being used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Accountability: Full audit trails and governance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71600" y="5852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28800" y="5852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Security: Complete provenance tracking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28800" y="6217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Fairness: Confidence scores and source citations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D7A"/>
                </a:solidFill>
              </a:rPr>
              <a:t>Perfect Fit for South Australia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1645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CC"/>
                </a:solidFill>
              </a:rPr>
              <a:t>Office for AI - $28M Budget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0" y="2103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Freeing up frontline staff from manual document search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28800" y="2423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Healthcare, policing, and social services applications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28800" y="2743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Immediate proof of value opportunity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291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CC"/>
                </a:solidFill>
              </a:rPr>
              <a:t>2026 Regulatory Reform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7160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828800" y="3749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Automated contradiction detection required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7160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828800" y="4069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Policy modernization and consistency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82880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Cross-department coordination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14400" y="4937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CC"/>
                </a:solidFill>
              </a:rPr>
              <a:t>Lot 14 Innovation Precinct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71600" y="5394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828800" y="5394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Stakeholder relationships already established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71600" y="5715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828800" y="5715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South Australia first approach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71600" y="6035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828800" y="6035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Showcase opportunity for local innovation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D7A"/>
                </a:solidFill>
              </a:rPr>
              <a:t>Business Model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914400" y="1371600"/>
            <a:ext cx="2743200" cy="548640"/>
          </a:xfrm>
          <a:prstGeom prst="rect">
            <a:avLst/>
          </a:prstGeom>
          <a:solidFill>
            <a:srgbClr val="1A4D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109728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Segment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840480" y="1371600"/>
            <a:ext cx="2286000" cy="548640"/>
          </a:xfrm>
          <a:prstGeom prst="rect">
            <a:avLst/>
          </a:prstGeom>
          <a:solidFill>
            <a:srgbClr val="1A4D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402336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Year 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2286000" cy="548640"/>
          </a:xfrm>
          <a:prstGeom prst="rect">
            <a:avLst/>
          </a:prstGeom>
          <a:solidFill>
            <a:srgbClr val="1A4D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649224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Year 2+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778240" y="1371600"/>
            <a:ext cx="2743200" cy="548640"/>
          </a:xfrm>
          <a:prstGeom prst="rect">
            <a:avLst/>
          </a:prstGeom>
          <a:solidFill>
            <a:srgbClr val="1A4D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896112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Market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2103120"/>
            <a:ext cx="1060704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109728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Government (Primary Focus)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36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$500K - $1M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$2M - $5M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96112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$28M available from Office for AI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14400" y="30175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109728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Enterprise B2B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02336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$200K - $500K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9224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$1M - $2M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96112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$500M+ TAM in Australia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14400" y="39319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0"/>
          <p:cNvSpPr/>
          <p:nvPr/>
        </p:nvSpPr>
        <p:spPr>
          <a:xfrm>
            <a:off x="1097280" y="4069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Consumer B2C (CareerCraft)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023360" y="4069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$50K - $100K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92240" y="4069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$200K - $500K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961120" y="4069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Subscription model, brand recognition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D7A"/>
                </a:solidFill>
              </a:rPr>
              <a:t>Partnership Proposal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4D7A"/>
                </a:solidFill>
              </a:rPr>
              <a:t>What We Need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288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$150K-$300K pilot funding (6 months)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Access to 2-3 department datasets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Dedicated government liaison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2880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Feedback and requirements input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4D7A"/>
                </a:solidFill>
              </a:rPr>
              <a:t>What We Deliver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04088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9808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Months 1-2: Pilot deployment and training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0408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49808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Months 3-6: 5-10 hours/week time savings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0408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9808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Months 6-12: Full production rollout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04088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9808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Measurable ROI and efficiency gains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4D7A"/>
                </a:solidFill>
              </a:rPr>
              <a:t>Success Metrics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37160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82880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5-10 hours per week saved per frontline staff member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371600" y="5120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82880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95% staff satisfaction and adoption rate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371600" y="5577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828800" y="5577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All policy contradictions identified and tracked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71600" y="6035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CC"/>
                </a:solidFill>
              </a:rPr>
              <a:t>•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82880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$500K+ annual cost savings from efficiency gains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4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743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1097280" y="2560320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109728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82880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Schedule proof of value demonstration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97280" y="3291840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Identify 2-3 pilot departments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097280" y="4023360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1097280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28800" y="4069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Define data sharing and security protocols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097280" y="4754880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1097280" y="4800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828800" y="4800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Begin 6-month pilot program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14400" y="5486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4F8"/>
                </a:solidFill>
              </a:rPr>
              <a:t>Contact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14400" y="5852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Horus Intelligence Team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info@horusintelligence.com</a:t>
            </a:r>
            <a:endParaRPr lang="en-US" sz="16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653</TotalTime>
  <Words>743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Horus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Horus Intelligence - SA Government Proposal</dc:title>
  <dc:subject>Government Pitch Deck</dc:subject>
  <dc:creator>Horus Intelligence Team</dc:creator>
  <cp:lastModifiedBy>bavindu aseeshan</cp:lastModifiedBy>
  <cp:revision>2</cp:revision>
  <dcterms:created xsi:type="dcterms:W3CDTF">2026-02-16T11:43:53Z</dcterms:created>
  <dcterms:modified xsi:type="dcterms:W3CDTF">2026-02-16T23:57:51Z</dcterms:modified>
</cp:coreProperties>
</file>